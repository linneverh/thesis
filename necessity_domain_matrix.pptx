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The seafood-processing disclosure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8A8F98"/>
                </a:solidFill>
              </a:rPr>
              <a:t>49 catalogued instruments by necessity tier (rows) and domain (columns).  Dot colour = stakeholder source.  Winnowed to the 30 scored in Chapter 6.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051560"/>
            <a:ext cx="4709160" cy="310896"/>
          </a:xfrm>
          <a:prstGeom prst="rect">
            <a:avLst/>
          </a:prstGeom>
          <a:solidFill>
            <a:srgbClr val="F2F4F7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Seafood-sector 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051560"/>
            <a:ext cx="4572000" cy="310896"/>
          </a:xfrm>
          <a:prstGeom prst="rect">
            <a:avLst/>
          </a:prstGeom>
          <a:solidFill>
            <a:srgbClr val="F2F4F7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General corporate sustainability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19"/>
            <a:ext cx="2121408" cy="2275242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1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Legal licence to operate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417319"/>
            <a:ext cx="4709160" cy="2275242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Fisheries Control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IUU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CMO marketing standards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Common Fisheries Policy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Marine Strategy Framework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RFMOs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EMFAF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19"/>
            <a:ext cx="4572000" cy="2275242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PPWR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OSH Framework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Working Time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Forced Labour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EU Deforestation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Empowering Consumers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Water Framework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Urban Waste Water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Waste Framework Directive (EPR)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F-gas Regulation 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Whistleblowing Directive 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Pay Transparency Directive 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710850"/>
            <a:ext cx="2121408" cy="1327224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2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Market licence to operate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3710850"/>
            <a:ext cx="470916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MSC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ASC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Best Aquaculture Practices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GLOBALG.A.P. Aquaculture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Friend of the Sea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Dolphin Safe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Fisheries labour conditions Directive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710850"/>
            <a:ext cx="457200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Sedex / SMETA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EcoVadis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RSPO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056363"/>
            <a:ext cx="2121408" cy="1516828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3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Competitive expectation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5056363"/>
            <a:ext cx="4709160" cy="15168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GDST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FIPs / FisheryProgress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GSSI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5056363"/>
            <a:ext cx="4572000" cy="15168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VSME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1" i="0">
                <a:solidFill>
                  <a:srgbClr val="1A1A1A"/>
                </a:solidFill>
              </a:rPr>
              <a:t>CSRD / ESRS  ★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CSDDD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CDP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SFDR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IFRS S1/S2 (ISSB)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GRI (incl. GRI 13)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EU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591479"/>
            <a:ext cx="2121408" cy="1327224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4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Strategic differentiation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6591479"/>
            <a:ext cx="470916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ISSF 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SeaBOS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6591479"/>
            <a:ext cx="457200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SBTi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UN Global Compact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TNFD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UN SDGs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Move to Minus 15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Coller FAIRR Index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Dow Jones Best-in-Class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7964423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4E79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Regulator     </a:t>
            </a:r>
            <a:r>
              <a:rPr sz="1200">
                <a:solidFill>
                  <a:srgbClr val="7E57C2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Customer     </a:t>
            </a:r>
            <a:r>
              <a:rPr sz="1200">
                <a:solidFill>
                  <a:srgbClr val="E0922B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Investor     </a:t>
            </a:r>
            <a:r>
              <a:rPr sz="1200">
                <a:solidFill>
                  <a:srgbClr val="2E8B57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Industry/NGO     </a:t>
            </a:r>
          </a:p>
          <a:p>
            <a:r>
              <a:rPr sz="950">
                <a:solidFill>
                  <a:srgbClr val="8A8F98"/>
                </a:solidFill>
              </a:rPr>
              <a:t>Status:   normal = scored    ·    ° opt-in    ·    ★ = CSRD/ESRS baseline    ·    grey italic = context (binds Member States)    ·    pale =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